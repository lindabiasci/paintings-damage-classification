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1" r:id="rId4"/>
  </p:sldMasterIdLst>
  <p:sldIdLst>
    <p:sldId id="256" r:id="rId5"/>
    <p:sldId id="257" r:id="rId6"/>
    <p:sldId id="259" r:id="rId7"/>
    <p:sldId id="263" r:id="rId8"/>
    <p:sldId id="267" r:id="rId9"/>
    <p:sldId id="260" r:id="rId10"/>
    <p:sldId id="261" r:id="rId11"/>
    <p:sldId id="264" r:id="rId12"/>
    <p:sldId id="268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0D436A-514F-4A49-B63F-9D5693C22C4C}" v="2912" dt="2026-04-30T17:41:10.5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AE0C963C-C1DB-4AFD-9DDC-0691666BF49B}" type="datetime2">
              <a:rPr lang="en-US" smtClean="0"/>
              <a:pPr/>
              <a:t>Friday, May 8, 2026</a:t>
            </a:fld>
            <a:endParaRPr lang="en-US" cap="al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01389E6-C847-4AD0-B56D-D205B2EAB1EE}" type="slidenum">
              <a:rPr lang="en-US" smtClean="0"/>
              <a:pPr/>
              <a:t>‹N›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20010141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C963C-C1DB-4AFD-9DDC-0691666BF49B}" type="datetime2">
              <a:rPr lang="en-US" smtClean="0"/>
              <a:pPr/>
              <a:t>Friday, May 8, 2026</a:t>
            </a:fld>
            <a:endParaRPr lang="en-US" cap="al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‹N›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18954031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C963C-C1DB-4AFD-9DDC-0691666BF49B}" type="datetime2">
              <a:rPr lang="en-US" smtClean="0"/>
              <a:pPr/>
              <a:t>Friday, May 8, 2026</a:t>
            </a:fld>
            <a:endParaRPr lang="en-US" cap="al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‹N›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72881580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C963C-C1DB-4AFD-9DDC-0691666BF49B}" type="datetime2">
              <a:rPr lang="en-US" smtClean="0"/>
              <a:pPr/>
              <a:t>Friday, May 8, 2026</a:t>
            </a:fld>
            <a:endParaRPr lang="en-US" cap="al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‹N›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0049446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C963C-C1DB-4AFD-9DDC-0691666BF49B}" type="datetime2">
              <a:rPr lang="en-US" smtClean="0"/>
              <a:pPr/>
              <a:t>Friday, May 8, 2026</a:t>
            </a:fld>
            <a:endParaRPr lang="en-US" cap="all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‹N›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96728158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C963C-C1DB-4AFD-9DDC-0691666BF49B}" type="datetime2">
              <a:rPr lang="en-US" smtClean="0"/>
              <a:pPr/>
              <a:t>Friday, May 8, 2026</a:t>
            </a:fld>
            <a:endParaRPr lang="en-US" cap="al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‹N›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90352696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C963C-C1DB-4AFD-9DDC-0691666BF49B}" type="datetime2">
              <a:rPr lang="en-US" smtClean="0"/>
              <a:pPr/>
              <a:t>Friday, May 8, 2026</a:t>
            </a:fld>
            <a:endParaRPr lang="en-US" cap="all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‹N›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55234242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C963C-C1DB-4AFD-9DDC-0691666BF49B}" type="datetime2">
              <a:rPr lang="en-US" smtClean="0"/>
              <a:pPr/>
              <a:t>Friday, May 8, 2026</a:t>
            </a:fld>
            <a:endParaRPr lang="en-US" cap="al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‹N›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56662250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C963C-C1DB-4AFD-9DDC-0691666BF49B}" type="datetime2">
              <a:rPr lang="en-US" smtClean="0"/>
              <a:pPr/>
              <a:t>Friday, May 8, 2026</a:t>
            </a:fld>
            <a:endParaRPr lang="en-US" cap="al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‹N›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74390727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C963C-C1DB-4AFD-9DDC-0691666BF49B}" type="datetime2">
              <a:rPr lang="en-US" smtClean="0"/>
              <a:pPr/>
              <a:t>Friday, May 8, 2026</a:t>
            </a:fld>
            <a:endParaRPr lang="en-US" cap="al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‹N›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34554530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C963C-C1DB-4AFD-9DDC-0691666BF49B}" type="datetime2">
              <a:rPr lang="en-US" smtClean="0"/>
              <a:pPr/>
              <a:t>Friday, May 8, 2026</a:t>
            </a:fld>
            <a:endParaRPr lang="en-US" cap="al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‹N›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3154362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C963C-C1DB-4AFD-9DDC-0691666BF49B}" type="datetime2">
              <a:rPr lang="en-US" smtClean="0"/>
              <a:pPr/>
              <a:t>Friday, May 8, 2026</a:t>
            </a:fld>
            <a:endParaRPr lang="en-US" cap="al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‹N›</a:t>
            </a:fld>
            <a:endParaRPr lang="en-US" sz="800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5586080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C963C-C1DB-4AFD-9DDC-0691666BF49B}" type="datetime2">
              <a:rPr lang="en-US" smtClean="0"/>
              <a:pPr/>
              <a:t>Friday, May 8, 2026</a:t>
            </a:fld>
            <a:endParaRPr lang="en-US" cap="al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‹N›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99736902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C963C-C1DB-4AFD-9DDC-0691666BF49B}" type="datetime2">
              <a:rPr lang="en-US" smtClean="0"/>
              <a:pPr/>
              <a:t>Friday, May 8, 2026</a:t>
            </a:fld>
            <a:endParaRPr lang="en-US" cap="al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‹N›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61813986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C963C-C1DB-4AFD-9DDC-0691666BF49B}" type="datetime2">
              <a:rPr lang="en-US" smtClean="0"/>
              <a:pPr/>
              <a:t>Friday, May 8, 2026</a:t>
            </a:fld>
            <a:endParaRPr lang="en-US" cap="al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‹N›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19805887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C963C-C1DB-4AFD-9DDC-0691666BF49B}" type="datetime2">
              <a:rPr lang="en-US" smtClean="0"/>
              <a:pPr/>
              <a:t>Friday, May 8, 2026</a:t>
            </a:fld>
            <a:endParaRPr lang="en-US" cap="al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‹N›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72258552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C963C-C1DB-4AFD-9DDC-0691666BF49B}" type="datetime2">
              <a:rPr lang="en-US" smtClean="0"/>
              <a:pPr/>
              <a:t>Friday, May 8, 2026</a:t>
            </a:fld>
            <a:endParaRPr lang="en-US" cap="al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‹N›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18884678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C963C-C1DB-4AFD-9DDC-0691666BF49B}" type="datetime2">
              <a:rPr lang="en-US" smtClean="0"/>
              <a:pPr/>
              <a:t>Friday, May 8, 2026</a:t>
            </a:fld>
            <a:endParaRPr lang="en-US" cap="al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389E6-C847-4AD0-B56D-D205B2EAB1EE}" type="slidenum">
              <a:rPr lang="en-US" smtClean="0"/>
              <a:pPr/>
              <a:t>‹N›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2954479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12" r:id="rId1"/>
    <p:sldLayoutId id="2147484113" r:id="rId2"/>
    <p:sldLayoutId id="2147484114" r:id="rId3"/>
    <p:sldLayoutId id="2147484115" r:id="rId4"/>
    <p:sldLayoutId id="2147484116" r:id="rId5"/>
    <p:sldLayoutId id="2147484117" r:id="rId6"/>
    <p:sldLayoutId id="2147484118" r:id="rId7"/>
    <p:sldLayoutId id="2147484119" r:id="rId8"/>
    <p:sldLayoutId id="2147484120" r:id="rId9"/>
    <p:sldLayoutId id="2147484121" r:id="rId10"/>
    <p:sldLayoutId id="2147484122" r:id="rId11"/>
    <p:sldLayoutId id="2147484123" r:id="rId12"/>
    <p:sldLayoutId id="2147484124" r:id="rId13"/>
    <p:sldLayoutId id="2147484125" r:id="rId14"/>
    <p:sldLayoutId id="2147484126" r:id="rId15"/>
    <p:sldLayoutId id="2147484127" r:id="rId16"/>
    <p:sldLayoutId id="2147484128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77800" dist="38100" dir="2700000" algn="tl">
              <a:srgbClr val="000000">
                <a:alpha val="24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LindaBiasci/paintings-damage-classification.git" TargetMode="External"/><Relationship Id="rId5" Type="http://schemas.openxmlformats.org/officeDocument/2006/relationships/hyperlink" Target="https://drive.google.com/drive/folders/1MHRfAiGpdYqKGSp35vG3KYK0MP-80ScX?usp=sharing" TargetMode="External"/><Relationship Id="rId4" Type="http://schemas.openxmlformats.org/officeDocument/2006/relationships/hyperlink" Target="https://www.kaggle.com/datasets/pes1ug22am047/damaged-and-undamaged-artworks?select=AI_for_Art_Restoration_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FD4038-9E33-3675-F58A-527D4C8208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/>
          </a:blip>
          <a:srcRect t="34615" b="9119"/>
          <a:stretch>
            <a:fillRect/>
          </a:stretch>
        </p:blipFill>
        <p:spPr>
          <a:xfrm>
            <a:off x="-2" y="10"/>
            <a:ext cx="12188389" cy="685799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9B9CC2B6-9366-F5B2-9EDD-1EE550FB60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5965" y="1932709"/>
            <a:ext cx="7345098" cy="2064613"/>
          </a:xfrm>
        </p:spPr>
        <p:txBody>
          <a:bodyPr>
            <a:normAutofit/>
          </a:bodyPr>
          <a:lstStyle/>
          <a:p>
            <a:pPr algn="ctr"/>
            <a:r>
              <a:rPr lang="en-GB" sz="6000" dirty="0"/>
              <a:t>Paintings damage classification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D50FFF7-F645-41D6-28B4-249D9E45DA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1" y="4111620"/>
            <a:ext cx="6857999" cy="782497"/>
          </a:xfrm>
        </p:spPr>
        <p:txBody>
          <a:bodyPr>
            <a:normAutofit/>
          </a:bodyPr>
          <a:lstStyle/>
          <a:p>
            <a:pPr algn="ctr"/>
            <a:r>
              <a:rPr lang="en-GB" sz="3200" dirty="0"/>
              <a:t>Biasci </a:t>
            </a:r>
            <a:r>
              <a:rPr lang="en-GB" sz="3200" dirty="0" err="1"/>
              <a:t>linda</a:t>
            </a:r>
            <a:endParaRPr lang="en-GB" sz="32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99DF2BA-27AC-9C8A-4604-0E54986F7DE4}"/>
              </a:ext>
            </a:extLst>
          </p:cNvPr>
          <p:cNvSpPr txBox="1"/>
          <p:nvPr/>
        </p:nvSpPr>
        <p:spPr>
          <a:xfrm>
            <a:off x="119419" y="6303422"/>
            <a:ext cx="119495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Computing methods for experimental physics and data analysis 2025/2026 </a:t>
            </a:r>
          </a:p>
        </p:txBody>
      </p:sp>
    </p:spTree>
    <p:extLst>
      <p:ext uri="{BB962C8B-B14F-4D97-AF65-F5344CB8AC3E}">
        <p14:creationId xmlns:p14="http://schemas.microsoft.com/office/powerpoint/2010/main" val="1884064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4231A4-5F5B-BDE0-4AFE-C5F133476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313793"/>
          </a:xfrm>
        </p:spPr>
        <p:txBody>
          <a:bodyPr>
            <a:normAutofit/>
          </a:bodyPr>
          <a:lstStyle/>
          <a:p>
            <a:pPr algn="ctr"/>
            <a:r>
              <a:rPr lang="en-GB" sz="4400" dirty="0">
                <a:solidFill>
                  <a:schemeClr val="accent3">
                    <a:lumMod val="75000"/>
                  </a:schemeClr>
                </a:solidFill>
              </a:rPr>
              <a:t>Project purposes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92C1F78-ED62-B530-CF2F-A4DC69FE5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162" y="1313793"/>
            <a:ext cx="10400499" cy="2659117"/>
          </a:xfrm>
        </p:spPr>
        <p:txBody>
          <a:bodyPr>
            <a:normAutofit/>
          </a:bodyPr>
          <a:lstStyle/>
          <a:p>
            <a:r>
              <a:rPr lang="en-GB" dirty="0"/>
              <a:t>Classification of artworks and paintings into two diagnostic categories, damaged (class 1) and undamaged (class 0), for art restoration</a:t>
            </a:r>
          </a:p>
          <a:p>
            <a:r>
              <a:rPr lang="en-GB" dirty="0"/>
              <a:t>Comparison between a traditional approach (handcrafted feature extraction + machine learning classification) and a deep learning approach (feature extraction with a pre-trained deep neural network + machine learning classification)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CFEBA23-BEDB-67F6-FC8E-95F39C538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296" y="5048077"/>
            <a:ext cx="2362405" cy="172989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8A5258A5-5EE6-132E-F17A-201600BED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003" y="3972910"/>
            <a:ext cx="6200998" cy="28850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D2E9B455-3DEE-D854-FEE6-CF5718EF94FA}"/>
                  </a:ext>
                </a:extLst>
              </p:cNvPr>
              <p:cNvSpPr txBox="1"/>
              <p:nvPr/>
            </p:nvSpPr>
            <p:spPr>
              <a:xfrm>
                <a:off x="0" y="3972911"/>
                <a:ext cx="5991003" cy="16461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R="0" lvl="0" algn="ctr" defTabSz="914400" rtl="0" eaLnBrk="1" fontAlgn="auto" latinLnBrk="0" hangingPunct="1">
                  <a:lnSpc>
                    <a:spcPct val="12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Pct val="125000"/>
                  <a:tabLst/>
                  <a:defRPr/>
                </a:pPr>
                <a:r>
                  <a:rPr kumimoji="0" lang="en-GB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152400" dist="38100" dir="2700000" algn="tl">
                        <a:srgbClr val="000000">
                          <a:alpha val="36000"/>
                        </a:srgbClr>
                      </a:outerShdw>
                    </a:effectLst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Dataset: “</a:t>
                </a:r>
                <a:r>
                  <a:rPr kumimoji="0" lang="da-DK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AI_for_Art_Restoration_2</a:t>
                </a:r>
                <a:r>
                  <a:rPr kumimoji="0" lang="en-GB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”, Kaggle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2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Pct val="125000"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GB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(</a:t>
                </a:r>
                <a:r>
                  <a:rPr kumimoji="0" lang="it-IT" sz="2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DAMAGED_AND_UNDAMAGED_ARTWORKS</a:t>
                </a:r>
                <a:r>
                  <a:rPr kumimoji="0" lang="en-GB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)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2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Pct val="125000"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da-DK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kumimoji="0" lang="da-DK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 labelled images</a:t>
                </a:r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D2E9B455-3DEE-D854-FEE6-CF5718EF9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972911"/>
                <a:ext cx="5991003" cy="1646156"/>
              </a:xfrm>
              <a:prstGeom prst="rect">
                <a:avLst/>
              </a:prstGeom>
              <a:blipFill>
                <a:blip r:embed="rId4"/>
                <a:stretch>
                  <a:fillRect l="-814" t="-3704" r="-712" b="-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6896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45349D-4E8D-883D-EECD-965643FA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6" y="0"/>
            <a:ext cx="9905998" cy="725214"/>
          </a:xfrm>
        </p:spPr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Image preprocessing (MATLAB)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A5FA4FF-5436-B426-5039-308A22F16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375" y="3316811"/>
            <a:ext cx="10405241" cy="3543579"/>
          </a:xfrm>
        </p:spPr>
        <p:txBody>
          <a:bodyPr/>
          <a:lstStyle/>
          <a:p>
            <a:pPr marL="0" indent="0">
              <a:buNone/>
            </a:pPr>
            <a:r>
              <a:rPr lang="en-GB" sz="2200" dirty="0"/>
              <a:t>Define a custom function to extract features from images of the </a:t>
            </a:r>
            <a:r>
              <a:rPr lang="en-GB" sz="2200" dirty="0" err="1">
                <a:latin typeface="Aptos Light" panose="020B0004020202020204" pitchFamily="34" charset="0"/>
              </a:rPr>
              <a:t>paired_dataset</a:t>
            </a:r>
            <a:r>
              <a:rPr lang="en-GB" sz="2200" dirty="0">
                <a:latin typeface="Aptos Light" panose="020B0004020202020204" pitchFamily="34" charset="0"/>
              </a:rPr>
              <a:t>: </a:t>
            </a:r>
          </a:p>
          <a:p>
            <a:pPr lvl="1"/>
            <a:r>
              <a:rPr lang="en-GB" dirty="0"/>
              <a:t>Texture features: contrast, homogeneity, energy and correlation from Grey-Level Co-</a:t>
            </a:r>
            <a:r>
              <a:rPr lang="en-GB" dirty="0" err="1"/>
              <a:t>occurrency</a:t>
            </a:r>
            <a:r>
              <a:rPr lang="en-GB" dirty="0"/>
              <a:t> Matrix; energy and entropy from Local Binary Pattern; global entropy;</a:t>
            </a:r>
          </a:p>
          <a:p>
            <a:pPr lvl="1"/>
            <a:r>
              <a:rPr lang="en-GB" dirty="0"/>
              <a:t>Edge feature: max pooling over </a:t>
            </a:r>
            <a:r>
              <a:rPr lang="en-GB" dirty="0" err="1"/>
              <a:t>4x4</a:t>
            </a:r>
            <a:r>
              <a:rPr lang="en-GB" dirty="0"/>
              <a:t> grids of edge density with Canny algorithm</a:t>
            </a:r>
          </a:p>
          <a:p>
            <a:pPr lvl="1"/>
            <a:r>
              <a:rPr lang="en-GB" dirty="0"/>
              <a:t>Sharpness feature: max pooling of Laplacian variance</a:t>
            </a:r>
          </a:p>
          <a:p>
            <a:pPr lvl="1"/>
            <a:r>
              <a:rPr lang="en-GB" dirty="0"/>
              <a:t>Fourier spectral features: max pooling of spectral variance, high-frequency energy ratio, distance from spectral centroid</a:t>
            </a:r>
          </a:p>
          <a:p>
            <a:pPr lvl="1"/>
            <a:r>
              <a:rPr lang="en-GB" dirty="0"/>
              <a:t>Colour features: mean intensity, standard deviation, skewness on the three RGB channels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E510C2F5-BE12-4122-C200-91431FC50E34}"/>
              </a:ext>
            </a:extLst>
          </p:cNvPr>
          <p:cNvSpPr txBox="1">
            <a:spLocks/>
          </p:cNvSpPr>
          <p:nvPr/>
        </p:nvSpPr>
        <p:spPr>
          <a:xfrm>
            <a:off x="691048" y="725214"/>
            <a:ext cx="10809894" cy="18663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GB" sz="2000" dirty="0"/>
              <a:t>Cleaned original dataset: removed duplicates, renamed images, converted all images to </a:t>
            </a:r>
            <a:r>
              <a:rPr lang="en-GB" sz="2000" dirty="0">
                <a:latin typeface="Aptos Light" panose="020B0004020202020204" pitchFamily="34" charset="0"/>
              </a:rPr>
              <a:t>.jpg</a:t>
            </a:r>
            <a:r>
              <a:rPr lang="en-GB" sz="2000" dirty="0"/>
              <a:t> format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Preprocessing: resized to </a:t>
            </a:r>
            <a:r>
              <a:rPr lang="en-GB" sz="2000" dirty="0" err="1"/>
              <a:t>224x224</a:t>
            </a:r>
            <a:r>
              <a:rPr lang="en-GB" sz="2000" dirty="0"/>
              <a:t> pixels, preserving image proportions with padding; converted grey-scale images to RGB; normalised pixel intensities, from [0, 255] to [0, 1], for each RGB channel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Saved processed images preserving raw dataset’s directories</a:t>
            </a:r>
            <a:endParaRPr lang="en-GB" dirty="0"/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B79A2FB7-E21C-A1AB-52FD-60379C6F7F9B}"/>
              </a:ext>
            </a:extLst>
          </p:cNvPr>
          <p:cNvSpPr txBox="1">
            <a:spLocks/>
          </p:cNvSpPr>
          <p:nvPr/>
        </p:nvSpPr>
        <p:spPr>
          <a:xfrm>
            <a:off x="1142996" y="2591597"/>
            <a:ext cx="9905998" cy="7252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chemeClr val="accent2"/>
                </a:solidFill>
              </a:rPr>
              <a:t>Manual feature extraction (MATLAB)</a:t>
            </a:r>
          </a:p>
        </p:txBody>
      </p:sp>
    </p:spTree>
    <p:extLst>
      <p:ext uri="{BB962C8B-B14F-4D97-AF65-F5344CB8AC3E}">
        <p14:creationId xmlns:p14="http://schemas.microsoft.com/office/powerpoint/2010/main" val="2957064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2F85F-2AE9-91F1-EC3F-77B17FBBD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D9683F-2103-E545-4E1B-6E43988D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725213"/>
          </a:xfrm>
        </p:spPr>
        <p:txBody>
          <a:bodyPr/>
          <a:lstStyle/>
          <a:p>
            <a:pPr algn="ctr"/>
            <a:r>
              <a:rPr lang="en-GB" dirty="0">
                <a:solidFill>
                  <a:schemeClr val="accent2"/>
                </a:solidFill>
              </a:rPr>
              <a:t>Statistical analysis on extracted features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695B0264-89D2-6445-85D1-BFF5063E22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4730" y="725213"/>
                <a:ext cx="10819359" cy="3489433"/>
              </a:xfrm>
            </p:spPr>
            <p:txBody>
              <a:bodyPr>
                <a:normAutofit/>
              </a:bodyPr>
              <a:lstStyle/>
              <a:p>
                <a:r>
                  <a:rPr lang="en-GB" sz="2200" dirty="0"/>
                  <a:t>Computed a table of difference features, i.e. differences between features extracted from </a:t>
                </a:r>
                <a:r>
                  <a:rPr lang="en-GB" sz="2200" dirty="0" err="1">
                    <a:latin typeface="Aptos Light" panose="020B0004020202020204" pitchFamily="34" charset="0"/>
                  </a:rPr>
                  <a:t>paired_dataset</a:t>
                </a:r>
                <a:r>
                  <a:rPr lang="en-GB" sz="2200" dirty="0">
                    <a:latin typeface="Aptos Light" panose="020B0004020202020204" pitchFamily="34" charset="0"/>
                  </a:rPr>
                  <a:t>/damaged</a:t>
                </a:r>
                <a:r>
                  <a:rPr lang="en-GB" sz="2200" dirty="0"/>
                  <a:t> and </a:t>
                </a:r>
                <a:r>
                  <a:rPr lang="en-GB" sz="2200" dirty="0" err="1">
                    <a:latin typeface="Aptos Light" panose="020B0004020202020204" pitchFamily="34" charset="0"/>
                  </a:rPr>
                  <a:t>paired_dataset</a:t>
                </a:r>
                <a:r>
                  <a:rPr lang="en-GB" sz="2200" dirty="0">
                    <a:latin typeface="Aptos Light" panose="020B0004020202020204" pitchFamily="34" charset="0"/>
                  </a:rPr>
                  <a:t>/undamaged</a:t>
                </a:r>
              </a:p>
              <a:p>
                <a:r>
                  <a:rPr lang="en-GB" sz="2200" dirty="0"/>
                  <a:t>Performed statistical analysis on difference features to identify the most diagnostic ones:</a:t>
                </a:r>
              </a:p>
              <a:p>
                <a:pPr lvl="1"/>
                <a:r>
                  <a:rPr lang="en-GB" dirty="0"/>
                  <a:t>Correlation matrix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GB" dirty="0"/>
                  <a:t> replaced mean intensities, standard deviation and skewness of RGB with average mean, average standard deviation and average skewness over RGB channels</a:t>
                </a:r>
              </a:p>
              <a:p>
                <a:pPr lvl="1"/>
                <a:r>
                  <a:rPr lang="en-GB" dirty="0"/>
                  <a:t>Lilliefors normality test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GB" dirty="0"/>
                  <a:t> most difference features cannot be assumed to be normally distributed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GB" dirty="0"/>
                  <a:t> Wilcoxon nonparametric test for statistical significance</a:t>
                </a:r>
              </a:p>
              <a:p>
                <a:pPr lvl="1"/>
                <a:r>
                  <a:rPr lang="en-GB" dirty="0"/>
                  <a:t>Data exploration: visualisation of RGB histograms, FFT spectra, boxplots</a:t>
                </a:r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695B0264-89D2-6445-85D1-BFF5063E22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4730" y="725213"/>
                <a:ext cx="10819359" cy="3489433"/>
              </a:xfrm>
              <a:blipFill>
                <a:blip r:embed="rId2"/>
                <a:stretch>
                  <a:fillRect l="-1465" t="-3497" b="-40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Segnaposto contenuto 2">
                <a:extLst>
                  <a:ext uri="{FF2B5EF4-FFF2-40B4-BE49-F238E27FC236}">
                    <a16:creationId xmlns:a16="http://schemas.microsoft.com/office/drawing/2014/main" id="{D417F8DA-7B2A-8976-D4B1-CEEA2D1AF17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3232" y="5475890"/>
                <a:ext cx="11262353" cy="131379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effectLst>
                      <a:outerShdw blurRad="152400" dist="38100" dir="2700000" algn="tl">
                        <a:srgbClr val="000000">
                          <a:alpha val="36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effectLst>
                      <a:outerShdw blurRad="152400" dist="38100" dir="2700000" algn="tl">
                        <a:srgbClr val="000000">
                          <a:alpha val="36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effectLst>
                      <a:outerShdw blurRad="152400" dist="38100" dir="2700000" algn="tl">
                        <a:srgbClr val="000000">
                          <a:alpha val="36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effectLst>
                      <a:outerShdw blurRad="152400" dist="38100" dir="2700000" algn="tl">
                        <a:srgbClr val="000000">
                          <a:alpha val="36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effectLst>
                      <a:outerShdw blurRad="152400" dist="38100" dir="2700000" algn="tl">
                        <a:srgbClr val="000000">
                          <a:alpha val="36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GB" sz="2200" dirty="0"/>
                  <a:t>Selected features: correlation from GLCM, entropy from LBP, global entropy, edge density, spectral variance, spectral energy ratio, average RGB mean intensity, standard deviation, skewness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GB" sz="2200" dirty="0"/>
                  <a:t>Extracted features from images of the </a:t>
                </a:r>
                <a:r>
                  <a:rPr lang="en-GB" sz="2200" dirty="0" err="1">
                    <a:latin typeface="Aptos Light" panose="020B0004020202020204" pitchFamily="34" charset="0"/>
                  </a:rPr>
                  <a:t>unpaired_dataset</a:t>
                </a:r>
                <a:r>
                  <a:rPr lang="en-GB" sz="2200" dirty="0"/>
                  <a:t>, exported data in a </a:t>
                </a:r>
                <a:r>
                  <a:rPr lang="en-GB" sz="2200" dirty="0">
                    <a:latin typeface="Aptos Light" panose="020B0004020202020204" pitchFamily="34" charset="0"/>
                  </a:rPr>
                  <a:t>.csv </a:t>
                </a:r>
                <a:r>
                  <a:rPr lang="en-GB" sz="2200" dirty="0"/>
                  <a:t>file</a:t>
                </a:r>
                <a:endParaRPr lang="en-GB" sz="2200" dirty="0">
                  <a:latin typeface="Aptos Light" panose="020B0004020202020204" pitchFamily="34" charset="0"/>
                </a:endParaRPr>
              </a:p>
            </p:txBody>
          </p:sp>
        </mc:Choice>
        <mc:Fallback xmlns="">
          <p:sp>
            <p:nvSpPr>
              <p:cNvPr id="4" name="Segnaposto contenuto 2">
                <a:extLst>
                  <a:ext uri="{FF2B5EF4-FFF2-40B4-BE49-F238E27FC236}">
                    <a16:creationId xmlns:a16="http://schemas.microsoft.com/office/drawing/2014/main" id="{D417F8DA-7B2A-8976-D4B1-CEEA2D1AF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32" y="5475890"/>
                <a:ext cx="11262353" cy="1313793"/>
              </a:xfrm>
              <a:prstGeom prst="rect">
                <a:avLst/>
              </a:prstGeom>
              <a:blipFill>
                <a:blip r:embed="rId3"/>
                <a:stretch>
                  <a:fillRect l="-1191" t="-6019" r="-920" b="-148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Immagine 12">
            <a:extLst>
              <a:ext uri="{FF2B5EF4-FFF2-40B4-BE49-F238E27FC236}">
                <a16:creationId xmlns:a16="http://schemas.microsoft.com/office/drawing/2014/main" id="{E8EF0A12-3EF1-FDFB-BE57-A8ADCBE01C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26" y="841066"/>
            <a:ext cx="10193164" cy="4487918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DD9169D4-6A43-EBDF-1B94-1BB4E99B76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3095" y="720197"/>
            <a:ext cx="9822626" cy="4729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447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637B7F86-C5C3-F798-41B9-1A7800A67B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772" y="960324"/>
            <a:ext cx="10752455" cy="4937352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8B916EFB-6051-2AA3-3242-BB8330514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8124958" cy="3569521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EE2D1C50-8393-E097-2135-31B17C8AB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6372" y="3569521"/>
            <a:ext cx="8765628" cy="3288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683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51D566-C63A-F396-6966-A42221805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71691"/>
            <a:ext cx="9905998" cy="1478570"/>
          </a:xfrm>
        </p:spPr>
        <p:txBody>
          <a:bodyPr/>
          <a:lstStyle/>
          <a:p>
            <a:pPr algn="ctr"/>
            <a:r>
              <a:rPr lang="en-GB" dirty="0">
                <a:solidFill>
                  <a:schemeClr val="bg2"/>
                </a:solidFill>
              </a:rPr>
              <a:t>Deep feature extraction (Python)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F8CA3AE3-F4AE-F888-45A6-37210267DC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9891" y="1550261"/>
                <a:ext cx="9989042" cy="4827637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Transfer learning: pre-trained convolutional neural network used as a feature extractor, returning a table of deep features to be used as training dataset for machine learning classification (specific for the given problem)</a:t>
                </a:r>
              </a:p>
              <a:p>
                <a:r>
                  <a:rPr lang="en-GB" dirty="0"/>
                  <a:t>Model: </a:t>
                </a:r>
                <a:r>
                  <a:rPr lang="en-GB" dirty="0" err="1"/>
                  <a:t>ResNet50</a:t>
                </a:r>
                <a:r>
                  <a:rPr lang="en-GB" dirty="0"/>
                  <a:t> (CNN with skip connections, 50 layers) pre-trained on ImageNet (more than a million images) for classification</a:t>
                </a:r>
              </a:p>
              <a:p>
                <a:r>
                  <a:rPr lang="en-GB" dirty="0"/>
                  <a:t>Removed the last fully connected layer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GB" dirty="0"/>
                  <a:t> 2048 deep features for each image</a:t>
                </a:r>
              </a:p>
              <a:p>
                <a:r>
                  <a:rPr lang="en-GB" dirty="0"/>
                  <a:t>Dimensionality reduction with Principal Component Analysis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GB" dirty="0"/>
                  <a:t> 50 deep features for each image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GB" dirty="0"/>
                  <a:t> exported data in a </a:t>
                </a:r>
                <a:r>
                  <a:rPr lang="en-GB" dirty="0">
                    <a:latin typeface="Aptos Light" panose="020B0004020202020204" pitchFamily="34" charset="0"/>
                  </a:rPr>
                  <a:t>.csv </a:t>
                </a:r>
                <a:r>
                  <a:rPr lang="en-GB" dirty="0"/>
                  <a:t>file 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F8CA3AE3-F4AE-F888-45A6-37210267DC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9891" y="1550261"/>
                <a:ext cx="9989042" cy="4827637"/>
              </a:xfrm>
              <a:blipFill>
                <a:blip r:embed="rId2"/>
                <a:stretch>
                  <a:fillRect l="-1769" t="-2778" r="-11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magine 4">
            <a:extLst>
              <a:ext uri="{FF2B5EF4-FFF2-40B4-BE49-F238E27FC236}">
                <a16:creationId xmlns:a16="http://schemas.microsoft.com/office/drawing/2014/main" id="{91E6A5DF-DDE6-59E7-E409-5C8009CDE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147" y="6377898"/>
            <a:ext cx="2453853" cy="48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589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9D2838-6ED9-C0C5-DB5F-EF6FE35E3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229710"/>
          </a:xfrm>
        </p:spPr>
        <p:txBody>
          <a:bodyPr/>
          <a:lstStyle/>
          <a:p>
            <a:pPr algn="ctr"/>
            <a:r>
              <a:rPr lang="en-GB" dirty="0">
                <a:solidFill>
                  <a:schemeClr val="accent3"/>
                </a:solidFill>
              </a:rPr>
              <a:t>Machine learning classification (python)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1557A92-32B2-0708-83A8-5BEA84919F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1413" y="1271751"/>
                <a:ext cx="9905998" cy="538129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dirty="0"/>
                  <a:t>Comparison between support vector machine and random forest as classification models, with tables of extracted features as training sets</a:t>
                </a:r>
              </a:p>
              <a:p>
                <a:r>
                  <a:rPr lang="en-GB" dirty="0"/>
                  <a:t>Implemented classification with pipelines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GB" dirty="0"/>
                  <a:t> standard scaler transformation required for support vector machine model</a:t>
                </a:r>
              </a:p>
              <a:p>
                <a:r>
                  <a:rPr lang="en-GB" dirty="0"/>
                  <a:t>Limited dataset available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GB" dirty="0"/>
                  <a:t> implemented stratified k-fold cross validation, with k=7 (best outcome after results examination with k=5, k=7, k=10)</a:t>
                </a:r>
              </a:p>
              <a:p>
                <a:r>
                  <a:rPr lang="en-GB" dirty="0"/>
                  <a:t>Unbalanced class proportions in the </a:t>
                </a:r>
                <a:r>
                  <a:rPr lang="en-GB" dirty="0" err="1">
                    <a:latin typeface="Aptos Light" panose="020B0004020202020204" pitchFamily="34" charset="0"/>
                  </a:rPr>
                  <a:t>unpaired_dataset</a:t>
                </a:r>
                <a:r>
                  <a:rPr lang="en-GB" dirty="0">
                    <a:latin typeface="Aptos Light" panose="020B0004020202020204" pitchFamily="34" charset="0"/>
                  </a:rPr>
                  <a:t> </a:t>
                </a:r>
                <a:r>
                  <a:rPr lang="en-GB" dirty="0"/>
                  <a:t>(damaged:undamaged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GB" dirty="0"/>
                  <a:t>2:1)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GB" dirty="0">
                    <a:latin typeface="Aptos Light" panose="020B0004020202020204" pitchFamily="34" charset="0"/>
                  </a:rPr>
                  <a:t> </a:t>
                </a:r>
                <a:r>
                  <a:rPr lang="en-GB" dirty="0" err="1">
                    <a:latin typeface="Aptos Light" panose="020B0004020202020204" pitchFamily="34" charset="0"/>
                  </a:rPr>
                  <a:t>class_weight</a:t>
                </a:r>
                <a:r>
                  <a:rPr lang="en-GB" dirty="0">
                    <a:latin typeface="Aptos Light" panose="020B0004020202020204" pitchFamily="34" charset="0"/>
                  </a:rPr>
                  <a:t> = ‘balanced’ </a:t>
                </a:r>
                <a:r>
                  <a:rPr lang="en-GB" dirty="0"/>
                  <a:t>in both </a:t>
                </a:r>
                <a:r>
                  <a:rPr lang="en-GB" dirty="0" err="1"/>
                  <a:t>SVM</a:t>
                </a:r>
                <a:r>
                  <a:rPr lang="en-GB" dirty="0"/>
                  <a:t> and RF models </a:t>
                </a:r>
                <a:endParaRPr lang="en-GB" dirty="0">
                  <a:latin typeface="Aptos Light" panose="020B0004020202020204" pitchFamily="34" charset="0"/>
                </a:endParaRPr>
              </a:p>
              <a:p>
                <a:r>
                  <a:rPr lang="en-GB" dirty="0"/>
                  <a:t>Evaluation of both ML models, for each feature extraction pipeline: plotted ROC curves, plotted confusion matrices; metrics: accuracy, precision, recall, </a:t>
                </a:r>
                <a:r>
                  <a:rPr lang="en-GB" dirty="0" err="1"/>
                  <a:t>F1</a:t>
                </a:r>
                <a:r>
                  <a:rPr lang="en-GB" dirty="0"/>
                  <a:t>-score, area under the ROC curve</a:t>
                </a:r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1557A92-32B2-0708-83A8-5BEA84919F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1413" y="1271751"/>
                <a:ext cx="9905998" cy="5381297"/>
              </a:xfrm>
              <a:blipFill>
                <a:blip r:embed="rId2"/>
                <a:stretch>
                  <a:fillRect l="-1785" t="-3061" r="-24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5500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1CA73C-3234-CF4C-DE49-1D2885EAB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95912"/>
          </a:xfrm>
        </p:spPr>
        <p:txBody>
          <a:bodyPr>
            <a:normAutofit/>
          </a:bodyPr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Results:</a:t>
            </a:r>
            <a:br>
              <a:rPr lang="en-GB" dirty="0">
                <a:solidFill>
                  <a:schemeClr val="tx2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traditional pipeline				deep learning pipeline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FF9417B-4058-25B2-C378-ACA6FC34C6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9" r="4266"/>
          <a:stretch>
            <a:fillRect/>
          </a:stretch>
        </p:blipFill>
        <p:spPr>
          <a:xfrm>
            <a:off x="6201102" y="4184394"/>
            <a:ext cx="5990898" cy="2673606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C3935DDF-8439-204C-9517-260D6E0230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46" t="5695" r="12272"/>
          <a:stretch>
            <a:fillRect/>
          </a:stretch>
        </p:blipFill>
        <p:spPr>
          <a:xfrm>
            <a:off x="7584272" y="1207497"/>
            <a:ext cx="3214732" cy="2908247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78473D58-6120-D433-91D9-587C492AAE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1" r="4407"/>
          <a:stretch>
            <a:fillRect/>
          </a:stretch>
        </p:blipFill>
        <p:spPr>
          <a:xfrm>
            <a:off x="0" y="4184394"/>
            <a:ext cx="5990898" cy="2678861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3E3E15CC-993D-8F73-3CEC-DA4BA7482E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29" t="5846" r="12376"/>
          <a:stretch>
            <a:fillRect/>
          </a:stretch>
        </p:blipFill>
        <p:spPr>
          <a:xfrm>
            <a:off x="1383167" y="1207497"/>
            <a:ext cx="3224562" cy="290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563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69638-2BF8-5122-EC42-F5C30B24B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1E5F7A-DC69-55FD-35A5-F484FBA4C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6390289" cy="977462"/>
          </a:xfrm>
        </p:spPr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Results and conclusions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102C956-C8F3-4990-EA4A-BAEED5820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1" t="2699" r="2655" b="3142"/>
          <a:stretch>
            <a:fillRect/>
          </a:stretch>
        </p:blipFill>
        <p:spPr>
          <a:xfrm>
            <a:off x="6390290" y="555154"/>
            <a:ext cx="5801710" cy="57476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Segnaposto contenuto 2">
                <a:extLst>
                  <a:ext uri="{FF2B5EF4-FFF2-40B4-BE49-F238E27FC236}">
                    <a16:creationId xmlns:a16="http://schemas.microsoft.com/office/drawing/2014/main" id="{440CCA04-DD43-EDA3-AF50-4E9D8856D4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2759" y="977463"/>
                <a:ext cx="6127529" cy="5880537"/>
              </a:xfrm>
            </p:spPr>
            <p:txBody>
              <a:bodyPr>
                <a:normAutofit fontScale="92500"/>
              </a:bodyPr>
              <a:lstStyle/>
              <a:p>
                <a:r>
                  <a:rPr lang="en-GB" sz="2200" dirty="0"/>
                  <a:t>CNN feature extraction shows a better performance than manual feature extraction: all metrics have higher mean values and lower standard deviations</a:t>
                </a:r>
              </a:p>
              <a:p>
                <a:r>
                  <a:rPr lang="en-GB" sz="2200" dirty="0"/>
                  <a:t>Deep approach leads to a higher number of features and can extract “hidden” and localised features, manual feature extraction might be more sensitive to image noise and dilute information over the whole picture</a:t>
                </a:r>
              </a:p>
              <a:p>
                <a:r>
                  <a:rPr lang="en-GB" sz="2200" dirty="0"/>
                  <a:t>In this context, false negatives are more serious than false positives </a:t>
                </a:r>
                <a14:m>
                  <m:oMath xmlns:m="http://schemas.openxmlformats.org/officeDocument/2006/math">
                    <m:r>
                      <a:rPr lang="en-GB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GB" sz="2200" dirty="0"/>
                  <a:t> in manual feature extraction, RF seems to be more reliable than </a:t>
                </a:r>
                <a:r>
                  <a:rPr lang="en-GB" sz="2200" dirty="0" err="1"/>
                  <a:t>SVM</a:t>
                </a:r>
                <a:r>
                  <a:rPr lang="en-GB" sz="2200" dirty="0"/>
                  <a:t> </a:t>
                </a:r>
              </a:p>
              <a:p>
                <a:r>
                  <a:rPr lang="en-GB" sz="2200" dirty="0"/>
                  <a:t>Deep pipeline’s drawbacks: lack of interpretability </a:t>
                </a:r>
                <a14:m>
                  <m:oMath xmlns:m="http://schemas.openxmlformats.org/officeDocument/2006/math">
                    <m:r>
                      <a:rPr lang="en-GB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GB" sz="2200" dirty="0"/>
                  <a:t> efficient classification but impossibility to explain features in terms of physical properties, hence not enough to plan a restoration intervention</a:t>
                </a:r>
              </a:p>
            </p:txBody>
          </p:sp>
        </mc:Choice>
        <mc:Fallback xmlns="">
          <p:sp>
            <p:nvSpPr>
              <p:cNvPr id="6" name="Segnaposto contenuto 2">
                <a:extLst>
                  <a:ext uri="{FF2B5EF4-FFF2-40B4-BE49-F238E27FC236}">
                    <a16:creationId xmlns:a16="http://schemas.microsoft.com/office/drawing/2014/main" id="{440CCA04-DD43-EDA3-AF50-4E9D8856D4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2759" y="977463"/>
                <a:ext cx="6127529" cy="5880537"/>
              </a:xfrm>
              <a:blipFill>
                <a:blip r:embed="rId3"/>
                <a:stretch>
                  <a:fillRect l="-2189" t="-1762" r="-29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9444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A47250-2AA5-DD15-F3E8-021CADC80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3FFBA9-0609-377C-ED05-6334CC11B4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/>
          </a:blip>
          <a:srcRect t="34615" b="9119"/>
          <a:stretch>
            <a:fillRect/>
          </a:stretch>
        </p:blipFill>
        <p:spPr>
          <a:xfrm>
            <a:off x="-2" y="10"/>
            <a:ext cx="12188389" cy="685799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AA68D57A-F0E7-FF63-36E1-97B6A07A55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1641" y="776571"/>
            <a:ext cx="7345098" cy="2064613"/>
          </a:xfrm>
        </p:spPr>
        <p:txBody>
          <a:bodyPr>
            <a:normAutofit/>
          </a:bodyPr>
          <a:lstStyle/>
          <a:p>
            <a:pPr algn="ctr"/>
            <a:r>
              <a:rPr lang="en-GB" sz="6000" dirty="0"/>
              <a:t>Thank you for your attention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44C19C-A87B-B8EF-675E-FE429BD07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5190" y="2854322"/>
            <a:ext cx="6857999" cy="782497"/>
          </a:xfrm>
        </p:spPr>
        <p:txBody>
          <a:bodyPr>
            <a:normAutofit/>
          </a:bodyPr>
          <a:lstStyle/>
          <a:p>
            <a:pPr algn="ctr"/>
            <a:r>
              <a:rPr lang="en-GB" sz="3200" dirty="0"/>
              <a:t>Biasci </a:t>
            </a:r>
            <a:r>
              <a:rPr lang="en-GB" sz="3200" dirty="0" err="1"/>
              <a:t>linda</a:t>
            </a:r>
            <a:endParaRPr lang="en-GB" sz="32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9CEC6BB-A530-0399-2804-92592DD21D54}"/>
              </a:ext>
            </a:extLst>
          </p:cNvPr>
          <p:cNvSpPr txBox="1"/>
          <p:nvPr/>
        </p:nvSpPr>
        <p:spPr>
          <a:xfrm>
            <a:off x="3613" y="4503499"/>
            <a:ext cx="12188387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Useful links</a:t>
            </a:r>
          </a:p>
          <a:p>
            <a:r>
              <a:rPr lang="en-GB" sz="2400" dirty="0"/>
              <a:t>Raw dataset:</a:t>
            </a:r>
          </a:p>
          <a:p>
            <a:r>
              <a:rPr lang="en-GB" sz="1900" dirty="0">
                <a:hlinkClick r:id="rId4"/>
              </a:rPr>
              <a:t>https://</a:t>
            </a:r>
            <a:r>
              <a:rPr lang="en-GB" sz="1900" dirty="0" err="1">
                <a:hlinkClick r:id="rId4"/>
              </a:rPr>
              <a:t>www.kaggle.com</a:t>
            </a:r>
            <a:r>
              <a:rPr lang="en-GB" sz="1900" dirty="0">
                <a:hlinkClick r:id="rId4"/>
              </a:rPr>
              <a:t>/datasets/</a:t>
            </a:r>
            <a:r>
              <a:rPr lang="en-GB" sz="1900" dirty="0" err="1">
                <a:hlinkClick r:id="rId4"/>
              </a:rPr>
              <a:t>pes1ug22am047</a:t>
            </a:r>
            <a:r>
              <a:rPr lang="en-GB" sz="1900" dirty="0">
                <a:hlinkClick r:id="rId4"/>
              </a:rPr>
              <a:t>/</a:t>
            </a:r>
            <a:r>
              <a:rPr lang="en-GB" sz="1900" dirty="0" err="1">
                <a:hlinkClick r:id="rId4"/>
              </a:rPr>
              <a:t>damaged-and-undamaged-artworks?select</a:t>
            </a:r>
            <a:r>
              <a:rPr lang="en-GB" sz="1900" dirty="0">
                <a:hlinkClick r:id="rId4"/>
              </a:rPr>
              <a:t>=</a:t>
            </a:r>
            <a:r>
              <a:rPr lang="en-GB" sz="1900" dirty="0" err="1">
                <a:hlinkClick r:id="rId4"/>
              </a:rPr>
              <a:t>AI_for_Art_Restoration_2</a:t>
            </a:r>
            <a:endParaRPr lang="en-GB" sz="1900" dirty="0"/>
          </a:p>
          <a:p>
            <a:r>
              <a:rPr lang="en-GB" sz="2400" dirty="0"/>
              <a:t>Clean dataset: </a:t>
            </a:r>
            <a:r>
              <a:rPr lang="en-GB" sz="1900" dirty="0">
                <a:hlinkClick r:id="rId5"/>
              </a:rPr>
              <a:t>https://</a:t>
            </a:r>
            <a:r>
              <a:rPr lang="en-GB" sz="1900" dirty="0" err="1">
                <a:hlinkClick r:id="rId5"/>
              </a:rPr>
              <a:t>drive.google.com</a:t>
            </a:r>
            <a:r>
              <a:rPr lang="en-GB" sz="1900" dirty="0">
                <a:hlinkClick r:id="rId5"/>
              </a:rPr>
              <a:t>/drive/folders/</a:t>
            </a:r>
            <a:r>
              <a:rPr lang="en-GB" sz="1900" dirty="0" err="1">
                <a:hlinkClick r:id="rId5"/>
              </a:rPr>
              <a:t>1MHRfAiGpdYqKGSp35vG3KYK0MP-80ScX?usp</a:t>
            </a:r>
            <a:r>
              <a:rPr lang="en-GB" sz="1900" dirty="0">
                <a:hlinkClick r:id="rId5"/>
              </a:rPr>
              <a:t>=sharing</a:t>
            </a:r>
            <a:endParaRPr lang="en-GB" sz="1900" dirty="0"/>
          </a:p>
          <a:p>
            <a:r>
              <a:rPr lang="en-GB" sz="2400" dirty="0"/>
              <a:t>Project’s repository: </a:t>
            </a:r>
            <a:r>
              <a:rPr lang="en-GB" sz="1900" dirty="0">
                <a:hlinkClick r:id="rId6"/>
              </a:rPr>
              <a:t>https://</a:t>
            </a:r>
            <a:r>
              <a:rPr lang="en-GB" sz="1900" dirty="0" err="1">
                <a:hlinkClick r:id="rId6"/>
              </a:rPr>
              <a:t>github.com</a:t>
            </a:r>
            <a:r>
              <a:rPr lang="en-GB" sz="1900" dirty="0">
                <a:hlinkClick r:id="rId6"/>
              </a:rPr>
              <a:t>/</a:t>
            </a:r>
            <a:r>
              <a:rPr lang="en-GB" sz="1900" dirty="0" err="1">
                <a:hlinkClick r:id="rId6"/>
              </a:rPr>
              <a:t>LindaBiasci</a:t>
            </a:r>
            <a:r>
              <a:rPr lang="en-GB" sz="1900" dirty="0">
                <a:hlinkClick r:id="rId6"/>
              </a:rPr>
              <a:t>/paintings-damage-</a:t>
            </a:r>
            <a:r>
              <a:rPr lang="en-GB" sz="1900" dirty="0" err="1">
                <a:hlinkClick r:id="rId6"/>
              </a:rPr>
              <a:t>classification.git</a:t>
            </a:r>
            <a:endParaRPr lang="en-GB" sz="1900" dirty="0"/>
          </a:p>
          <a:p>
            <a:pPr algn="ctr"/>
            <a:r>
              <a:rPr lang="en-GB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539137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97ECCC31-8429-4523-BE8D-8F09B7A4D46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DB69086EF7D52488EA43A8A8A8360F4" ma:contentTypeVersion="10" ma:contentTypeDescription="Create a new document." ma:contentTypeScope="" ma:versionID="5975e3d01658fcb82bc0c277fe34e287">
  <xsd:schema xmlns:xsd="http://www.w3.org/2001/XMLSchema" xmlns:xs="http://www.w3.org/2001/XMLSchema" xmlns:p="http://schemas.microsoft.com/office/2006/metadata/properties" xmlns:ns3="962a8344-61eb-40a6-a8c2-c08ae08e811e" targetNamespace="http://schemas.microsoft.com/office/2006/metadata/properties" ma:root="true" ma:fieldsID="22f4d82d2f952e47dfb9aaee09eb0084" ns3:_="">
    <xsd:import namespace="962a8344-61eb-40a6-a8c2-c08ae08e811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2a8344-61eb-40a6-a8c2-c08ae08e81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62a8344-61eb-40a6-a8c2-c08ae08e811e" xsi:nil="true"/>
  </documentManagement>
</p:properties>
</file>

<file path=customXml/itemProps1.xml><?xml version="1.0" encoding="utf-8"?>
<ds:datastoreItem xmlns:ds="http://schemas.openxmlformats.org/officeDocument/2006/customXml" ds:itemID="{F02C1FCE-3D5A-48EC-8A75-7BAA60C463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62a8344-61eb-40a6-a8c2-c08ae08e81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653AD17-7E69-4378-AD8C-076A4BDC116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4A739C3-43A1-4EF6-8D17-AE7DD74F919A}">
  <ds:schemaRefs>
    <ds:schemaRef ds:uri="http://purl.org/dc/terms/"/>
    <ds:schemaRef ds:uri="http://schemas.microsoft.com/office/2006/metadata/properties"/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962a8344-61eb-40a6-a8c2-c08ae08e811e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500</TotalTime>
  <Words>862</Words>
  <Application>Microsoft Office PowerPoint</Application>
  <PresentationFormat>Widescreen</PresentationFormat>
  <Paragraphs>53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5" baseType="lpstr">
      <vt:lpstr>Aptos Light</vt:lpstr>
      <vt:lpstr>Arial</vt:lpstr>
      <vt:lpstr>Cambria Math</vt:lpstr>
      <vt:lpstr>Tw Cen MT</vt:lpstr>
      <vt:lpstr>Circuito</vt:lpstr>
      <vt:lpstr>Paintings damage classification</vt:lpstr>
      <vt:lpstr>Project purposes </vt:lpstr>
      <vt:lpstr>Image preprocessing (MATLAB)</vt:lpstr>
      <vt:lpstr>Statistical analysis on extracted features</vt:lpstr>
      <vt:lpstr>Presentazione standard di PowerPoint</vt:lpstr>
      <vt:lpstr>Deep feature extraction (Python)</vt:lpstr>
      <vt:lpstr>Machine learning classification (python)</vt:lpstr>
      <vt:lpstr>Results: traditional pipeline    deep learning pipeline</vt:lpstr>
      <vt:lpstr>Results and conclusions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Linda Biasci</dc:creator>
  <cp:lastModifiedBy>Linda Biasci</cp:lastModifiedBy>
  <cp:revision>4</cp:revision>
  <dcterms:created xsi:type="dcterms:W3CDTF">2026-04-30T09:33:30Z</dcterms:created>
  <dcterms:modified xsi:type="dcterms:W3CDTF">2026-05-08T16:00:44Z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0x0101002DB69086EF7D52488EA43A8A8A8360F4</vt:lpwstr>
  </property>
</Properties>
</file>